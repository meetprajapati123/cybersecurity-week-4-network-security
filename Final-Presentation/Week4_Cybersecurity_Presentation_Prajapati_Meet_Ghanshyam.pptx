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698480" cy="41148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769AA"/>
                </a:solidFill>
                <a:latin typeface="Aptos"/>
              </a:defRPr>
            </a:pPr>
            <a:r>
              <a:t>DG INTERN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59436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14263D"/>
                </a:solidFill>
                <a:latin typeface="Aptos Display"/>
              </a:defRPr>
            </a:pPr>
            <a:r>
              <a:t>WEEK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10698480" cy="50292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D2733"/>
                </a:solidFill>
                <a:latin typeface="Aptos"/>
              </a:defRPr>
            </a:pPr>
            <a:r>
              <a:t>CYBER SECURITY INTERNSHIP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880360"/>
            <a:ext cx="10424160" cy="50292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B6573"/>
                </a:solidFill>
                <a:latin typeface="Aptos"/>
              </a:defRPr>
            </a:pPr>
            <a:r>
              <a:t>Basic Network Setup • IIS / Apache • Nmap • Wireshark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886200"/>
            <a:ext cx="6675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9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142232"/>
            <a:ext cx="6217920" cy="109728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Submitted by: Prajapati Meet Ghanshyam</a:t>
            </a:r>
          </a:p>
          <a:p>
            <a:pPr>
              <a:spcAft>
                <a:spcPts val="5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Organization: DG Intern Hub</a:t>
            </a:r>
          </a:p>
          <a:p>
            <a:pPr>
              <a:spcAft>
                <a:spcPts val="500"/>
              </a:spcAft>
              <a:defRPr sz="1600" b="0">
                <a:solidFill>
                  <a:srgbClr val="14263D"/>
                </a:solidFill>
                <a:latin typeface="Aptos"/>
              </a:defRPr>
            </a:pPr>
            <a:r>
              <a:t>Date: 14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572000"/>
            <a:ext cx="3474720" cy="45720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9AA"/>
                </a:solidFill>
                <a:latin typeface="Aptos"/>
              </a:defRPr>
            </a:pPr>
            <a:r>
              <a:t>Practical evidence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1. Lab Setup &amp;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573"/>
                </a:solidFill>
              </a:defRPr>
            </a:pPr>
            <a:r>
              <a:t>DG INTERN HUB  |  WEEK 4  |  PRAJAPATI MEET GHANSHYAM                                       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972800" cy="36576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769AA"/>
                </a:solidFill>
                <a:latin typeface="Aptos"/>
              </a:defRPr>
            </a:pPr>
            <a:r>
              <a:t>Authorized Host-Only lab segment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4480560" cy="1828800"/>
          </a:xfrm>
          <a:prstGeom prst="roundRect">
            <a:avLst/>
          </a:prstGeom>
          <a:solidFill>
            <a:srgbClr val="EEF5FB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263D"/>
                </a:solidFill>
                <a:latin typeface="Aptos"/>
              </a:defRPr>
            </a:pPr>
            <a:r>
              <a:t>KALI LINUX 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023360" cy="82296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D2733"/>
                </a:solidFill>
                <a:latin typeface="Aptos"/>
              </a:defRPr>
            </a:pPr>
            <a:r>
              <a:t>Test client / Wireshark</a:t>
            </a:r>
          </a:p>
          <a:p>
            <a:pPr>
              <a:spcAft>
                <a:spcPts val="500"/>
              </a:spcAft>
              <a:defRPr sz="1600" b="0">
                <a:solidFill>
                  <a:srgbClr val="1D2733"/>
                </a:solidFill>
                <a:latin typeface="Aptos"/>
              </a:defRPr>
            </a:pPr>
            <a:r>
              <a:t>eth1: 192.168.56.101/24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00200"/>
            <a:ext cx="4480560" cy="1828800"/>
          </a:xfrm>
          <a:prstGeom prst="roundRect">
            <a:avLst/>
          </a:prstGeom>
          <a:solidFill>
            <a:srgbClr val="EEF5FB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2880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769AA"/>
                </a:solidFill>
                <a:latin typeface="Aptos"/>
              </a:defRPr>
            </a:pPr>
            <a:r>
              <a:t>WINDOWS HOST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31720"/>
            <a:ext cx="4023360" cy="82296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D2733"/>
                </a:solidFill>
                <a:latin typeface="Aptos"/>
              </a:defRPr>
            </a:pPr>
            <a:r>
              <a:t>Target web server (IIS)</a:t>
            </a:r>
          </a:p>
          <a:p>
            <a:pPr>
              <a:spcAft>
                <a:spcPts val="500"/>
              </a:spcAft>
              <a:defRPr sz="1600" b="0">
                <a:solidFill>
                  <a:srgbClr val="1D2733"/>
                </a:solidFill>
                <a:latin typeface="Aptos"/>
              </a:defRPr>
            </a:pPr>
            <a:r>
              <a:t>Ethernet 2: 192.168.56.1/24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2395728"/>
            <a:ext cx="1234440" cy="64008"/>
          </a:xfrm>
          <a:prstGeom prst="rect">
            <a:avLst/>
          </a:prstGeom>
          <a:solidFill>
            <a:srgbClr val="14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3794760"/>
            <a:ext cx="3840480" cy="68580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769AA"/>
                </a:solidFill>
                <a:latin typeface="Aptos"/>
              </a:defRPr>
            </a:pPr>
            <a:r>
              <a:t>VirtualBox Host-Only</a:t>
            </a:r>
          </a:p>
          <a:p>
            <a:pPr>
              <a:spcAft>
                <a:spcPts val="500"/>
              </a:spcAft>
              <a:defRPr sz="1500" b="1">
                <a:solidFill>
                  <a:srgbClr val="1769AA"/>
                </a:solidFill>
                <a:latin typeface="Aptos"/>
              </a:defRPr>
            </a:pPr>
            <a:r>
              <a:t>192.168.56.0/24</a:t>
            </a:r>
          </a:p>
        </p:txBody>
      </p:sp>
      <p:pic>
        <p:nvPicPr>
          <p:cNvPr id="14" name="Picture 13" descr="image(20261014-12131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000" y="4572000"/>
            <a:ext cx="2529678" cy="1417320"/>
          </a:xfrm>
          <a:prstGeom prst="rect">
            <a:avLst/>
          </a:prstGeom>
        </p:spPr>
      </p:pic>
      <p:pic>
        <p:nvPicPr>
          <p:cNvPr id="15" name="Picture 14" descr="image(20261014-13022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075" y="4572000"/>
            <a:ext cx="2587209" cy="1417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5989320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B6573"/>
                </a:solidFill>
                <a:latin typeface="Aptos"/>
              </a:defRPr>
            </a:pPr>
            <a:r>
              <a:t>Kali interface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989320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B6573"/>
                </a:solidFill>
                <a:latin typeface="Aptos"/>
              </a:defRPr>
            </a:pPr>
            <a:r>
              <a:t>Windows Host-Only adapter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2. Web Server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573"/>
                </a:solidFill>
              </a:defRPr>
            </a:pPr>
            <a:r>
              <a:t>DG INTERN HUB  |  WEEK 4  |  PRAJAPATI MEET GHANSHYAM                                       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45720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D2733"/>
                </a:solidFill>
                <a:latin typeface="Aptos"/>
              </a:defRPr>
            </a:pPr>
            <a:r>
              <a:t>Apache on Kali was verified locally; IIS was enabled on the Windows target.</a:t>
            </a:r>
          </a:p>
        </p:txBody>
      </p:sp>
      <p:pic>
        <p:nvPicPr>
          <p:cNvPr id="6" name="Picture 5" descr="image(20261014-12545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92" y="1325880"/>
            <a:ext cx="5285694" cy="1965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3310128"/>
            <a:ext cx="5394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B6573"/>
                </a:solidFill>
                <a:latin typeface="Aptos"/>
              </a:defRPr>
            </a:pPr>
            <a:r>
              <a:t>Apache2 service: active (running)</a:t>
            </a:r>
          </a:p>
        </p:txBody>
      </p:sp>
      <p:pic>
        <p:nvPicPr>
          <p:cNvPr id="8" name="Picture 7" descr="image(20261014-12581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153" y="1325880"/>
            <a:ext cx="3586772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33101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B6573"/>
                </a:solidFill>
                <a:latin typeface="Aptos"/>
              </a:defRPr>
            </a:pPr>
            <a:r>
              <a:t>Apache default page at http://127.0.0.1</a:t>
            </a:r>
          </a:p>
        </p:txBody>
      </p:sp>
      <p:pic>
        <p:nvPicPr>
          <p:cNvPr id="10" name="Picture 9" descr="image(20261014-134346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5669" y="3840480"/>
            <a:ext cx="4052581" cy="2148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09560" y="4389120"/>
            <a:ext cx="3291840" cy="91440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769AA"/>
                </a:solidFill>
                <a:latin typeface="Aptos"/>
              </a:defRPr>
            </a:pPr>
            <a:r>
              <a:t>Windows IIS welcome page</a:t>
            </a:r>
          </a:p>
          <a:p>
            <a:pPr>
              <a:spcAft>
                <a:spcPts val="500"/>
              </a:spcAft>
              <a:defRPr sz="1800" b="1">
                <a:solidFill>
                  <a:srgbClr val="1769AA"/>
                </a:solidFill>
                <a:latin typeface="Aptos"/>
              </a:defRPr>
            </a:pPr>
            <a:r>
              <a:t>Target: 192.168.56.1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3. Nmap Scanning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573"/>
                </a:solidFill>
              </a:defRPr>
            </a:pPr>
            <a:r>
              <a:t>DG INTERN HUB  |  WEEK 4  |  PRAJAPATI MEET GHANSHYAM                                       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D2733"/>
                </a:solidFill>
                <a:latin typeface="Aptos"/>
              </a:defRPr>
            </a:pPr>
            <a:r>
              <a:t>Initial scan: port 80 was filtered. After enabling IIS, port 80 became open.</a:t>
            </a:r>
          </a:p>
        </p:txBody>
      </p:sp>
      <p:pic>
        <p:nvPicPr>
          <p:cNvPr id="6" name="Picture 5" descr="image(20261014-13073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0062"/>
            <a:ext cx="5440680" cy="1240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3493008"/>
            <a:ext cx="5440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B6573"/>
                </a:solidFill>
                <a:latin typeface="Aptos"/>
              </a:defRPr>
            </a:pPr>
            <a:r>
              <a:t>Initial scan — 80 filtered; 3306 and 7070 open</a:t>
            </a:r>
          </a:p>
        </p:txBody>
      </p:sp>
      <p:pic>
        <p:nvPicPr>
          <p:cNvPr id="8" name="Picture 7" descr="image(20261014-13481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35538"/>
            <a:ext cx="5440680" cy="11295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72200" y="3493008"/>
            <a:ext cx="5440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B6573"/>
                </a:solidFill>
                <a:latin typeface="Aptos"/>
              </a:defRPr>
            </a:pPr>
            <a:r>
              <a:t>Final scan — 80 open (Microsoft IIS HTTPD 10.0)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97280" y="4069080"/>
          <a:ext cx="99669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828800"/>
                <a:gridCol w="6583680"/>
              </a:tblGrid>
              <a:tr h="3771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Port</a:t>
                      </a:r>
                    </a:p>
                  </a:txBody>
                  <a:tcPr marL="73152" marT="36576"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Final state</a:t>
                      </a:r>
                    </a:p>
                  </a:txBody>
                  <a:tcPr marL="73152" marT="36576"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Notes</a:t>
                      </a:r>
                    </a:p>
                  </a:txBody>
                  <a:tcPr marL="73152" marT="36576">
                    <a:solidFill>
                      <a:srgbClr val="14263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3"/>
                          </a:solidFill>
                          <a:latin typeface="Aptos"/>
                        </a:defRPr>
                      </a:pPr>
                      <a:r>
                        <a:t>80/tcp</a:t>
                      </a:r>
                    </a:p>
                  </a:txBody>
                  <a:tcPr marL="73152" marT="36576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3"/>
                          </a:solidFill>
                          <a:latin typeface="Aptos"/>
                        </a:defRPr>
                      </a:pPr>
                      <a:r>
                        <a:t>Open</a:t>
                      </a:r>
                    </a:p>
                  </a:txBody>
                  <a:tcPr marL="73152" marT="36576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3"/>
                          </a:solidFill>
                          <a:latin typeface="Aptos"/>
                        </a:defRPr>
                      </a:pPr>
                      <a:r>
                        <a:t>Microsoft IIS HTTPD 10.0</a:t>
                      </a:r>
                    </a:p>
                  </a:txBody>
                  <a:tcPr marL="73152" marT="36576">
                    <a:solidFill>
                      <a:srgbClr val="EEF5FB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3"/>
                          </a:solidFill>
                          <a:latin typeface="Aptos"/>
                        </a:defRPr>
                      </a:pPr>
                      <a:r>
                        <a:t>3306/tcp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3"/>
                          </a:solidFill>
                          <a:latin typeface="Aptos"/>
                        </a:defRPr>
                      </a:pPr>
                      <a:r>
                        <a:t>Filtered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3"/>
                          </a:solidFill>
                          <a:latin typeface="Aptos"/>
                        </a:defRPr>
                      </a:pPr>
                      <a:r>
                        <a:t>MySQL was open in the initial scan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3"/>
                          </a:solidFill>
                          <a:latin typeface="Aptos"/>
                        </a:defRPr>
                      </a:pPr>
                      <a:r>
                        <a:t>7070/tcp</a:t>
                      </a:r>
                    </a:p>
                  </a:txBody>
                  <a:tcPr marL="73152" marT="36576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3"/>
                          </a:solidFill>
                          <a:latin typeface="Aptos"/>
                        </a:defRPr>
                      </a:pPr>
                      <a:r>
                        <a:t>Filtered</a:t>
                      </a:r>
                    </a:p>
                  </a:txBody>
                  <a:tcPr marL="73152" marT="36576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D2733"/>
                          </a:solidFill>
                          <a:latin typeface="Aptos"/>
                        </a:defRPr>
                      </a:pPr>
                      <a:r>
                        <a:t>Initial scan identified ssl/realserver?</a:t>
                      </a:r>
                    </a:p>
                  </a:txBody>
                  <a:tcPr marL="73152" marT="36576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4. Wireshark — HTTP Traffic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573"/>
                </a:solidFill>
              </a:defRPr>
            </a:pPr>
            <a:r>
              <a:t>DG INTERN HUB  |  WEEK 4  |  PRAJAPATI MEET GHANSHYAM                                       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69AA"/>
                </a:solidFill>
                <a:latin typeface="Aptos"/>
              </a:defRPr>
            </a:pPr>
            <a:r>
              <a:t>Capture interface: eth1  |  Display filter: http</a:t>
            </a:r>
          </a:p>
        </p:txBody>
      </p:sp>
      <p:pic>
        <p:nvPicPr>
          <p:cNvPr id="6" name="Picture 5" descr="image(20261014-13331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059" y="1234440"/>
            <a:ext cx="6941401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40680"/>
            <a:ext cx="10789920" cy="64008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D2733"/>
                </a:solidFill>
                <a:latin typeface="Aptos"/>
              </a:defRPr>
            </a:pPr>
            <a:r>
              <a:t>Observed: GET / from 192.168.56.101 to 192.168.56.1 and HTTP/1.1 200 OK in response. Additional resource requests were also visible.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5. Wireshark — ICMP &amp; 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573"/>
                </a:solidFill>
              </a:defRPr>
            </a:pPr>
            <a:r>
              <a:t>DG INTERN HUB  |  WEEK 4  |  PRAJAPATI MEET GHANSHYAM                                         06</a:t>
            </a:r>
          </a:p>
        </p:txBody>
      </p:sp>
      <p:pic>
        <p:nvPicPr>
          <p:cNvPr id="5" name="Picture 4" descr="image(20261014-13375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07" y="1005840"/>
            <a:ext cx="5424065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4370832"/>
            <a:ext cx="5852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B6573"/>
                </a:solidFill>
                <a:latin typeface="Aptos"/>
              </a:defRPr>
            </a:pPr>
            <a:r>
              <a:t>Four ICMP Echo Requests; no replies visible</a:t>
            </a:r>
          </a:p>
        </p:txBody>
      </p:sp>
      <p:pic>
        <p:nvPicPr>
          <p:cNvPr id="7" name="Picture 6" descr="image(20261014-13343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491051"/>
            <a:ext cx="4937760" cy="9040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9400" y="2761488"/>
            <a:ext cx="4937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B6573"/>
                </a:solidFill>
                <a:latin typeface="Aptos"/>
              </a:defRPr>
            </a:pPr>
            <a:r>
              <a:t>DNS lookup failed: resolver unreachable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3246120"/>
            <a:ext cx="4480560" cy="32004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769AA"/>
                </a:solidFill>
                <a:latin typeface="Aptos"/>
              </a:defRPr>
            </a:pPr>
            <a:r>
              <a:t>DNS 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657600"/>
            <a:ext cx="4480560" cy="155448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D2733"/>
                </a:solidFill>
                <a:latin typeface="Aptos"/>
              </a:defRPr>
            </a:pPr>
            <a:r>
              <a:t>nslookup example.com failed with “network unreachable” while trying 192.168.1.1. Successful DNS query/response traffic was not captured, so this is reported as an incomplete item—not a successful finding.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6. Key Findings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573"/>
                </a:solidFill>
              </a:defRPr>
            </a:pPr>
            <a:r>
              <a:t>DG INTERN HUB  |  WEEK 4  |  PRAJAPATI MEET GHANSHYAM                                         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10698480" cy="731520"/>
          </a:xfrm>
          <a:prstGeom prst="roundRect">
            <a:avLst/>
          </a:prstGeom>
          <a:solidFill>
            <a:srgbClr val="EEF5FB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024128"/>
            <a:ext cx="1828800" cy="27432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69AA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005840"/>
            <a:ext cx="8321040" cy="50292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D2733"/>
                </a:solidFill>
                <a:latin typeface="Aptos"/>
              </a:defRPr>
            </a:pPr>
            <a:r>
              <a:t>Kali 192.168.56.101/24 ↔ Windows 192.168.56.1/24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10512"/>
            <a:ext cx="10698480" cy="731520"/>
          </a:xfrm>
          <a:prstGeom prst="roundRect">
            <a:avLst/>
          </a:prstGeom>
          <a:solidFill>
            <a:srgbClr val="EEF5FB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69AA"/>
                </a:solidFill>
                <a:latin typeface="Aptos"/>
              </a:defRPr>
            </a:pPr>
            <a:r>
              <a:t>WEB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901952"/>
            <a:ext cx="8321040" cy="50292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D2733"/>
                </a:solidFill>
                <a:latin typeface="Aptos"/>
              </a:defRPr>
            </a:pPr>
            <a:r>
              <a:t>Windows IIS reachable on TCP/80; identified as Microsoft IIS HTTPD 10.0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06624"/>
            <a:ext cx="10698480" cy="731520"/>
          </a:xfrm>
          <a:prstGeom prst="roundRect">
            <a:avLst/>
          </a:prstGeom>
          <a:solidFill>
            <a:srgbClr val="EEF5FB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16352"/>
            <a:ext cx="1828800" cy="27432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69AA"/>
                </a:solidFill>
                <a:latin typeface="Aptos"/>
              </a:defRPr>
            </a:pPr>
            <a:r>
              <a:t>NMAP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798064"/>
            <a:ext cx="8321040" cy="50292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D2733"/>
                </a:solidFill>
                <a:latin typeface="Aptos"/>
              </a:defRPr>
            </a:pPr>
            <a:r>
              <a:t>Final scan: 80 open; 3306 and 7070 filtered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02736"/>
            <a:ext cx="10698480" cy="731520"/>
          </a:xfrm>
          <a:prstGeom prst="roundRect">
            <a:avLst/>
          </a:prstGeom>
          <a:solidFill>
            <a:srgbClr val="EEF5FB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12463"/>
            <a:ext cx="1828800" cy="27432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69AA"/>
                </a:solidFill>
                <a:latin typeface="Aptos"/>
              </a:defRPr>
            </a:pPr>
            <a:r>
              <a:t>WIRESHARK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94176"/>
            <a:ext cx="8321040" cy="50292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D2733"/>
                </a:solidFill>
                <a:latin typeface="Aptos"/>
              </a:defRPr>
            </a:pPr>
            <a:r>
              <a:t>HTTP GET and 200 OK observed; ICMP requests captured without replies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98848"/>
            <a:ext cx="10698480" cy="731520"/>
          </a:xfrm>
          <a:prstGeom prst="roundRect">
            <a:avLst/>
          </a:prstGeom>
          <a:solidFill>
            <a:srgbClr val="EEF5FB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608576"/>
            <a:ext cx="1828800" cy="27432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69AA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90288"/>
            <a:ext cx="8321040" cy="50292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D2733"/>
                </a:solidFill>
                <a:latin typeface="Aptos"/>
              </a:defRPr>
            </a:pPr>
            <a:r>
              <a:t>DNS resolution failed because the configured resolver was unreachable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77840"/>
            <a:ext cx="10607040" cy="50292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63D"/>
                </a:solidFill>
                <a:latin typeface="Aptos"/>
              </a:defRPr>
            </a:pPr>
            <a:r>
              <a:t>Conclusion: the lab demonstrated network setup, web-service verification, port scanning and HTTP packet analysis. DNS capture should be repeated after fixing resolver connectivity.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